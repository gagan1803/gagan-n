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17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918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9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6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7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7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1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164592" cy="5143500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164592" y="0"/>
            <a:ext cx="8979408" cy="64008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578" name="Text 2"/>
          <p:cNvSpPr/>
          <p:nvPr/>
        </p:nvSpPr>
        <p:spPr>
          <a:xfrm>
            <a:off x="256032" y="45720"/>
            <a:ext cx="868680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Agricultural Sciences, GKVK, Bangalore – 560065</a:t>
            </a:r>
            <a:endParaRPr dirty="0" sz="1100" lang="en-US"/>
          </a:p>
        </p:txBody>
      </p:sp>
      <p:sp>
        <p:nvSpPr>
          <p:cNvPr id="1048579" name="Text 3"/>
          <p:cNvSpPr/>
          <p:nvPr/>
        </p:nvSpPr>
        <p:spPr>
          <a:xfrm>
            <a:off x="365760" y="1005840"/>
            <a:ext cx="8412480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CNN-Powered Machine Learning Model</a:t>
            </a:r>
            <a:endParaRPr dirty="0" sz="3400" lang="en-US"/>
          </a:p>
        </p:txBody>
      </p:sp>
      <p:sp>
        <p:nvSpPr>
          <p:cNvPr id="1048580" name="Text 4"/>
          <p:cNvSpPr/>
          <p:nvPr/>
        </p:nvSpPr>
        <p:spPr>
          <a:xfrm>
            <a:off x="365760" y="1783080"/>
            <a:ext cx="841248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5C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Detection of Common Leaf Diseases in Plants</a:t>
            </a:r>
            <a:endParaRPr dirty="0" sz="2200" lang="en-US"/>
          </a:p>
        </p:txBody>
      </p:sp>
      <p:sp>
        <p:nvSpPr>
          <p:cNvPr id="1048581" name="Shape 5"/>
          <p:cNvSpPr/>
          <p:nvPr/>
        </p:nvSpPr>
        <p:spPr>
          <a:xfrm>
            <a:off x="1371600" y="2487168"/>
            <a:ext cx="6400800" cy="36576"/>
          </a:xfrm>
          <a:prstGeom prst="rect"/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048582" name="Text 6"/>
          <p:cNvSpPr/>
          <p:nvPr/>
        </p:nvSpPr>
        <p:spPr>
          <a:xfrm>
            <a:off x="365760" y="2651760"/>
            <a:ext cx="84124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EAI 421(0+10)  |  Applications of AI &amp; ML in Agriculture</a:t>
            </a:r>
            <a:endParaRPr dirty="0" sz="1400" lang="en-US"/>
          </a:p>
        </p:txBody>
      </p:sp>
      <p:sp>
        <p:nvSpPr>
          <p:cNvPr id="1048583" name="Shape 7"/>
          <p:cNvSpPr/>
          <p:nvPr/>
        </p:nvSpPr>
        <p:spPr>
          <a:xfrm>
            <a:off x="457200" y="3291840"/>
            <a:ext cx="3657600" cy="1371600"/>
          </a:xfrm>
          <a:prstGeom prst="rect"/>
          <a:solidFill>
            <a:srgbClr val="22513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584" name="Shape 8"/>
          <p:cNvSpPr/>
          <p:nvPr/>
        </p:nvSpPr>
        <p:spPr>
          <a:xfrm>
            <a:off x="5029200" y="3291840"/>
            <a:ext cx="3657600" cy="1371600"/>
          </a:xfrm>
          <a:prstGeom prst="rect"/>
          <a:solidFill>
            <a:srgbClr val="22513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585" name="Text 9"/>
          <p:cNvSpPr/>
          <p:nvPr/>
        </p:nvSpPr>
        <p:spPr>
          <a:xfrm>
            <a:off x="457200" y="3291840"/>
            <a:ext cx="365760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dirty="0" sz="1200" lang="en-US"/>
          </a:p>
        </p:txBody>
      </p:sp>
      <p:sp>
        <p:nvSpPr>
          <p:cNvPr id="1048586" name="Text 10"/>
          <p:cNvSpPr/>
          <p:nvPr/>
        </p:nvSpPr>
        <p:spPr>
          <a:xfrm>
            <a:off x="457200" y="3657600"/>
            <a:ext cx="36576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Muzamil Basha Sir</a:t>
            </a:r>
            <a:endParaRPr dirty="0" sz="1300" lang="en-US"/>
          </a:p>
          <a:p>
            <a:pPr algn="ctr"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Pallavi Mam</a:t>
            </a:r>
            <a:endParaRPr dirty="0" sz="1300" lang="en-US"/>
          </a:p>
        </p:txBody>
      </p:sp>
      <p:sp>
        <p:nvSpPr>
          <p:cNvPr id="1048587" name="Text 11"/>
          <p:cNvSpPr/>
          <p:nvPr/>
        </p:nvSpPr>
        <p:spPr>
          <a:xfrm>
            <a:off x="5029200" y="3291840"/>
            <a:ext cx="365760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dirty="0" sz="1200" lang="en-US"/>
          </a:p>
        </p:txBody>
      </p:sp>
      <p:sp>
        <p:nvSpPr>
          <p:cNvPr id="1048588" name="Text 12"/>
          <p:cNvSpPr/>
          <p:nvPr/>
        </p:nvSpPr>
        <p:spPr>
          <a:xfrm>
            <a:off x="5029200" y="3657600"/>
            <a:ext cx="36576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AMB2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1300" lang="en-US"/>
          </a:p>
          <a:p>
            <a:pPr algn="ctr"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Year B.Sc Agriculture</a:t>
            </a:r>
            <a:endParaRPr dirty="0" sz="1300" lang="en-US"/>
          </a:p>
        </p:txBody>
      </p:sp>
      <p:sp>
        <p:nvSpPr>
          <p:cNvPr id="1048589" name="Text 13"/>
          <p:cNvSpPr/>
          <p:nvPr/>
        </p:nvSpPr>
        <p:spPr>
          <a:xfrm>
            <a:off x="164592" y="4800600"/>
            <a:ext cx="8979408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7AB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Agriculture GKVK, Bengaluru</a:t>
            </a:r>
            <a:endParaRPr dirty="0" sz="10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633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34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Description</a:t>
            </a:r>
            <a:endParaRPr dirty="0" sz="2200" lang="en-US"/>
          </a:p>
        </p:txBody>
      </p:sp>
      <p:sp>
        <p:nvSpPr>
          <p:cNvPr id="1048635" name="Text 3"/>
          <p:cNvSpPr/>
          <p:nvPr/>
        </p:nvSpPr>
        <p:spPr>
          <a:xfrm>
            <a:off x="365760" y="804672"/>
            <a:ext cx="841248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i="1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plant leaf diseases remains a critical challenge in modern agriculture. This project presents a CNN-powered machine learning solution that enables quick prediction of multiple leaf diseases from basic leaf photographs.</a:t>
            </a:r>
            <a:endParaRPr dirty="0" sz="1300" lang="en-US"/>
          </a:p>
        </p:txBody>
      </p:sp>
      <p:sp>
        <p:nvSpPr>
          <p:cNvPr id="1048636" name="Shape 4"/>
          <p:cNvSpPr/>
          <p:nvPr/>
        </p:nvSpPr>
        <p:spPr>
          <a:xfrm>
            <a:off x="365760" y="1691640"/>
            <a:ext cx="4114800" cy="141732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  <a:effectLst>
            <a:outerShdw algn="bl" blurRad="50800" dir="8100000" dist="25400" kx="0" ky="0" rotWithShape="0" sx="100000" sy="100000">
              <a:srgbClr val="000000">
                <a:alpha val="8000"/>
              </a:srgbClr>
            </a:outerShdw>
          </a:effectLst>
        </p:spPr>
      </p:sp>
      <p:sp>
        <p:nvSpPr>
          <p:cNvPr id="1048637" name="Shape 5"/>
          <p:cNvSpPr/>
          <p:nvPr/>
        </p:nvSpPr>
        <p:spPr>
          <a:xfrm>
            <a:off x="365760" y="1691640"/>
            <a:ext cx="411480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38" name="Text 6"/>
          <p:cNvSpPr/>
          <p:nvPr/>
        </p:nvSpPr>
        <p:spPr>
          <a:xfrm>
            <a:off x="365760" y="1691640"/>
            <a:ext cx="41148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App Platform</a:t>
            </a:r>
            <a:endParaRPr dirty="0" sz="1200" lang="en-US"/>
          </a:p>
        </p:txBody>
      </p:sp>
      <p:sp>
        <p:nvSpPr>
          <p:cNvPr id="1048639" name="Text 7"/>
          <p:cNvSpPr/>
          <p:nvPr/>
        </p:nvSpPr>
        <p:spPr>
          <a:xfrm>
            <a:off x="457200" y="2039112"/>
            <a:ext cx="3931920" cy="101498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user-friendly browser/mobile interface accessible to farmers of all skill levels on any device.</a:t>
            </a:r>
            <a:endParaRPr dirty="0" sz="1100" lang="en-US"/>
          </a:p>
        </p:txBody>
      </p:sp>
      <p:sp>
        <p:nvSpPr>
          <p:cNvPr id="1048640" name="Shape 8"/>
          <p:cNvSpPr/>
          <p:nvPr/>
        </p:nvSpPr>
        <p:spPr>
          <a:xfrm>
            <a:off x="4663440" y="1691640"/>
            <a:ext cx="4114800" cy="141732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  <a:effectLst>
            <a:outerShdw algn="bl" blurRad="50800" dir="8100000" dist="25400" kx="0" ky="0" rotWithShape="0" sx="100000" sy="100000">
              <a:srgbClr val="000000">
                <a:alpha val="8000"/>
              </a:srgbClr>
            </a:outerShdw>
          </a:effectLst>
        </p:spPr>
      </p:sp>
      <p:sp>
        <p:nvSpPr>
          <p:cNvPr id="1048641" name="Shape 9"/>
          <p:cNvSpPr/>
          <p:nvPr/>
        </p:nvSpPr>
        <p:spPr>
          <a:xfrm>
            <a:off x="4663440" y="1691640"/>
            <a:ext cx="411480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42" name="Text 10"/>
          <p:cNvSpPr/>
          <p:nvPr/>
        </p:nvSpPr>
        <p:spPr>
          <a:xfrm>
            <a:off x="4663440" y="1691640"/>
            <a:ext cx="41148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</a:t>
            </a:r>
            <a:endParaRPr dirty="0" sz="1200" lang="en-US"/>
          </a:p>
        </p:txBody>
      </p:sp>
      <p:sp>
        <p:nvSpPr>
          <p:cNvPr id="1048643" name="Text 11"/>
          <p:cNvSpPr/>
          <p:nvPr/>
        </p:nvSpPr>
        <p:spPr>
          <a:xfrm>
            <a:off x="4754880" y="2039112"/>
            <a:ext cx="3931920" cy="101498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of leaf images provides instant disease insights to support early action.</a:t>
            </a:r>
            <a:endParaRPr dirty="0" sz="1100" lang="en-US"/>
          </a:p>
        </p:txBody>
      </p:sp>
      <p:sp>
        <p:nvSpPr>
          <p:cNvPr id="1048644" name="Shape 12"/>
          <p:cNvSpPr/>
          <p:nvPr/>
        </p:nvSpPr>
        <p:spPr>
          <a:xfrm>
            <a:off x="365760" y="3291840"/>
            <a:ext cx="4114800" cy="141732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  <a:effectLst>
            <a:outerShdw algn="bl" blurRad="50800" dir="8100000" dist="25400" kx="0" ky="0" rotWithShape="0" sx="100000" sy="100000">
              <a:srgbClr val="000000">
                <a:alpha val="8000"/>
              </a:srgbClr>
            </a:outerShdw>
          </a:effectLst>
        </p:spPr>
      </p:sp>
      <p:sp>
        <p:nvSpPr>
          <p:cNvPr id="1048645" name="Shape 13"/>
          <p:cNvSpPr/>
          <p:nvPr/>
        </p:nvSpPr>
        <p:spPr>
          <a:xfrm>
            <a:off x="365760" y="3291840"/>
            <a:ext cx="411480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46" name="Text 14"/>
          <p:cNvSpPr/>
          <p:nvPr/>
        </p:nvSpPr>
        <p:spPr>
          <a:xfrm>
            <a:off x="365760" y="3291840"/>
            <a:ext cx="41148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Screening</a:t>
            </a:r>
            <a:endParaRPr dirty="0" sz="1200" lang="en-US"/>
          </a:p>
        </p:txBody>
      </p:sp>
      <p:sp>
        <p:nvSpPr>
          <p:cNvPr id="1048647" name="Text 15"/>
          <p:cNvSpPr/>
          <p:nvPr/>
        </p:nvSpPr>
        <p:spPr>
          <a:xfrm>
            <a:off x="457200" y="3639312"/>
            <a:ext cx="3931920" cy="101498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users about causes, early symptoms, and risk factors, promoting proactive crop protection.</a:t>
            </a:r>
            <a:endParaRPr dirty="0" sz="1100" lang="en-US"/>
          </a:p>
        </p:txBody>
      </p:sp>
      <p:sp>
        <p:nvSpPr>
          <p:cNvPr id="1048648" name="Shape 16"/>
          <p:cNvSpPr/>
          <p:nvPr/>
        </p:nvSpPr>
        <p:spPr>
          <a:xfrm>
            <a:off x="4663440" y="3291840"/>
            <a:ext cx="4114800" cy="141732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  <a:effectLst>
            <a:outerShdw algn="bl" blurRad="50800" dir="8100000" dist="25400" kx="0" ky="0" rotWithShape="0" sx="100000" sy="100000">
              <a:srgbClr val="000000">
                <a:alpha val="8000"/>
              </a:srgbClr>
            </a:outerShdw>
          </a:effectLst>
        </p:spPr>
      </p:sp>
      <p:sp>
        <p:nvSpPr>
          <p:cNvPr id="1048649" name="Shape 17"/>
          <p:cNvSpPr/>
          <p:nvPr/>
        </p:nvSpPr>
        <p:spPr>
          <a:xfrm>
            <a:off x="4663440" y="3291840"/>
            <a:ext cx="411480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50" name="Text 18"/>
          <p:cNvSpPr/>
          <p:nvPr/>
        </p:nvSpPr>
        <p:spPr>
          <a:xfrm>
            <a:off x="4663440" y="3291840"/>
            <a:ext cx="41148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Affordable</a:t>
            </a:r>
            <a:endParaRPr dirty="0" sz="1200" lang="en-US"/>
          </a:p>
        </p:txBody>
      </p:sp>
      <p:sp>
        <p:nvSpPr>
          <p:cNvPr id="1048651" name="Text 19"/>
          <p:cNvSpPr/>
          <p:nvPr/>
        </p:nvSpPr>
        <p:spPr>
          <a:xfrm>
            <a:off x="4754880" y="3639312"/>
            <a:ext cx="3931920" cy="101498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Particularly valuable in areas with limited access to plant-health specialists or diagnostic services.</a:t>
            </a:r>
            <a:endParaRPr dirty="0" sz="1100" lang="en-US"/>
          </a:p>
        </p:txBody>
      </p:sp>
      <p:sp>
        <p:nvSpPr>
          <p:cNvPr id="1048652" name="Shape 20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657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58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dirty="0" sz="2200" lang="en-US"/>
          </a:p>
        </p:txBody>
      </p:sp>
      <p:sp>
        <p:nvSpPr>
          <p:cNvPr id="1048659" name="Shape 3"/>
          <p:cNvSpPr/>
          <p:nvPr/>
        </p:nvSpPr>
        <p:spPr>
          <a:xfrm>
            <a:off x="320040" y="822960"/>
            <a:ext cx="4160520" cy="914400"/>
          </a:xfrm>
          <a:prstGeom prst="rect"/>
          <a:solidFill>
            <a:srgbClr val="E8F5EE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660" name="Shape 4"/>
          <p:cNvSpPr/>
          <p:nvPr/>
        </p:nvSpPr>
        <p:spPr>
          <a:xfrm>
            <a:off x="393192" y="1051560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61" name="Text 5"/>
          <p:cNvSpPr/>
          <p:nvPr/>
        </p:nvSpPr>
        <p:spPr>
          <a:xfrm>
            <a:off x="393192" y="1051560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1100" lang="en-US"/>
          </a:p>
        </p:txBody>
      </p:sp>
      <p:sp>
        <p:nvSpPr>
          <p:cNvPr id="1048662" name="Text 6"/>
          <p:cNvSpPr/>
          <p:nvPr/>
        </p:nvSpPr>
        <p:spPr>
          <a:xfrm>
            <a:off x="832104" y="822960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web/mobile interface for farmers to upload leaf photos and receive real-time disease forecasts.</a:t>
            </a:r>
            <a:endParaRPr dirty="0" sz="1050" lang="en-US"/>
          </a:p>
        </p:txBody>
      </p:sp>
      <p:sp>
        <p:nvSpPr>
          <p:cNvPr id="1048663" name="Shape 7"/>
          <p:cNvSpPr/>
          <p:nvPr/>
        </p:nvSpPr>
        <p:spPr>
          <a:xfrm>
            <a:off x="320040" y="1856232"/>
            <a:ext cx="4160520" cy="914400"/>
          </a:xfrm>
          <a:prstGeom prst="rect"/>
          <a:solidFill>
            <a:srgbClr val="F0FAF5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664" name="Shape 8"/>
          <p:cNvSpPr/>
          <p:nvPr/>
        </p:nvSpPr>
        <p:spPr>
          <a:xfrm>
            <a:off x="393192" y="2084832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65" name="Text 9"/>
          <p:cNvSpPr/>
          <p:nvPr/>
        </p:nvSpPr>
        <p:spPr>
          <a:xfrm>
            <a:off x="393192" y="2084832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100" lang="en-US"/>
          </a:p>
        </p:txBody>
      </p:sp>
      <p:sp>
        <p:nvSpPr>
          <p:cNvPr id="1048666" name="Text 10"/>
          <p:cNvSpPr/>
          <p:nvPr/>
        </p:nvSpPr>
        <p:spPr>
          <a:xfrm>
            <a:off x="832104" y="1856232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models trained on plant-image datasets to accurately predict multiple leaf diseases from visual features.</a:t>
            </a:r>
            <a:endParaRPr dirty="0" sz="1050" lang="en-US"/>
          </a:p>
        </p:txBody>
      </p:sp>
      <p:sp>
        <p:nvSpPr>
          <p:cNvPr id="1048667" name="Shape 11"/>
          <p:cNvSpPr/>
          <p:nvPr/>
        </p:nvSpPr>
        <p:spPr>
          <a:xfrm>
            <a:off x="320040" y="2889504"/>
            <a:ext cx="4160520" cy="914400"/>
          </a:xfrm>
          <a:prstGeom prst="rect"/>
          <a:solidFill>
            <a:srgbClr val="E8F5EE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668" name="Shape 12"/>
          <p:cNvSpPr/>
          <p:nvPr/>
        </p:nvSpPr>
        <p:spPr>
          <a:xfrm>
            <a:off x="393192" y="3118104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69" name="Text 13"/>
          <p:cNvSpPr/>
          <p:nvPr/>
        </p:nvSpPr>
        <p:spPr>
          <a:xfrm>
            <a:off x="393192" y="3118104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100" lang="en-US"/>
          </a:p>
        </p:txBody>
      </p:sp>
      <p:sp>
        <p:nvSpPr>
          <p:cNvPr id="1048670" name="Text 14"/>
          <p:cNvSpPr/>
          <p:nvPr/>
        </p:nvSpPr>
        <p:spPr>
          <a:xfrm>
            <a:off x="832104" y="2889504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 validation on independent datasets, achieving high accuracy, sensitivity, and generalization.</a:t>
            </a:r>
            <a:endParaRPr dirty="0" sz="1050" lang="en-US"/>
          </a:p>
        </p:txBody>
      </p:sp>
      <p:sp>
        <p:nvSpPr>
          <p:cNvPr id="1048671" name="Shape 15"/>
          <p:cNvSpPr/>
          <p:nvPr/>
        </p:nvSpPr>
        <p:spPr>
          <a:xfrm>
            <a:off x="320040" y="3922776"/>
            <a:ext cx="4160520" cy="914400"/>
          </a:xfrm>
          <a:prstGeom prst="rect"/>
          <a:solidFill>
            <a:srgbClr val="F0FAF5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672" name="Shape 16"/>
          <p:cNvSpPr/>
          <p:nvPr/>
        </p:nvSpPr>
        <p:spPr>
          <a:xfrm>
            <a:off x="393192" y="4151376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73" name="Text 17"/>
          <p:cNvSpPr/>
          <p:nvPr/>
        </p:nvSpPr>
        <p:spPr>
          <a:xfrm>
            <a:off x="393192" y="4151376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100" lang="en-US"/>
          </a:p>
        </p:txBody>
      </p:sp>
      <p:sp>
        <p:nvSpPr>
          <p:cNvPr id="1048674" name="Text 18"/>
          <p:cNvSpPr/>
          <p:nvPr/>
        </p:nvSpPr>
        <p:spPr>
          <a:xfrm>
            <a:off x="832104" y="3922776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result display with confidence levels and disease descriptions to support informed decision-making.</a:t>
            </a:r>
            <a:endParaRPr dirty="0" sz="1050" lang="en-US"/>
          </a:p>
        </p:txBody>
      </p:sp>
      <p:sp>
        <p:nvSpPr>
          <p:cNvPr id="1048675" name="Shape 19"/>
          <p:cNvSpPr/>
          <p:nvPr/>
        </p:nvSpPr>
        <p:spPr>
          <a:xfrm>
            <a:off x="4709160" y="822960"/>
            <a:ext cx="4160520" cy="914400"/>
          </a:xfrm>
          <a:prstGeom prst="rect"/>
          <a:solidFill>
            <a:srgbClr val="E8F5EE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676" name="Shape 20"/>
          <p:cNvSpPr/>
          <p:nvPr/>
        </p:nvSpPr>
        <p:spPr>
          <a:xfrm>
            <a:off x="4782312" y="1051560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77" name="Text 21"/>
          <p:cNvSpPr/>
          <p:nvPr/>
        </p:nvSpPr>
        <p:spPr>
          <a:xfrm>
            <a:off x="4782312" y="1051560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100" lang="en-US"/>
          </a:p>
        </p:txBody>
      </p:sp>
      <p:sp>
        <p:nvSpPr>
          <p:cNvPr id="1048678" name="Text 22"/>
          <p:cNvSpPr/>
          <p:nvPr/>
        </p:nvSpPr>
        <p:spPr>
          <a:xfrm>
            <a:off x="5221224" y="822960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allowing seamless addition of new plant species and disease categories.</a:t>
            </a:r>
            <a:endParaRPr dirty="0" sz="1050" lang="en-US"/>
          </a:p>
        </p:txBody>
      </p:sp>
      <p:sp>
        <p:nvSpPr>
          <p:cNvPr id="1048679" name="Shape 23"/>
          <p:cNvSpPr/>
          <p:nvPr/>
        </p:nvSpPr>
        <p:spPr>
          <a:xfrm>
            <a:off x="4709160" y="1856232"/>
            <a:ext cx="4160520" cy="914400"/>
          </a:xfrm>
          <a:prstGeom prst="rect"/>
          <a:solidFill>
            <a:srgbClr val="F0FAF5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680" name="Shape 24"/>
          <p:cNvSpPr/>
          <p:nvPr/>
        </p:nvSpPr>
        <p:spPr>
          <a:xfrm>
            <a:off x="4782312" y="2084832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81" name="Text 25"/>
          <p:cNvSpPr/>
          <p:nvPr/>
        </p:nvSpPr>
        <p:spPr>
          <a:xfrm>
            <a:off x="4782312" y="2084832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1100" lang="en-US"/>
          </a:p>
        </p:txBody>
      </p:sp>
      <p:sp>
        <p:nvSpPr>
          <p:cNvPr id="1048682" name="Text 26"/>
          <p:cNvSpPr/>
          <p:nvPr/>
        </p:nvSpPr>
        <p:spPr>
          <a:xfrm>
            <a:off x="5221224" y="1856232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backend with data privacy safeguards ensuring quick, secure image processing.</a:t>
            </a:r>
            <a:endParaRPr dirty="0" sz="1050" lang="en-US"/>
          </a:p>
        </p:txBody>
      </p:sp>
      <p:sp>
        <p:nvSpPr>
          <p:cNvPr id="1048683" name="Shape 27"/>
          <p:cNvSpPr/>
          <p:nvPr/>
        </p:nvSpPr>
        <p:spPr>
          <a:xfrm>
            <a:off x="4709160" y="2889504"/>
            <a:ext cx="4160520" cy="914400"/>
          </a:xfrm>
          <a:prstGeom prst="rect"/>
          <a:solidFill>
            <a:srgbClr val="E8F5EE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684" name="Shape 28"/>
          <p:cNvSpPr/>
          <p:nvPr/>
        </p:nvSpPr>
        <p:spPr>
          <a:xfrm>
            <a:off x="4782312" y="3118104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85" name="Text 29"/>
          <p:cNvSpPr/>
          <p:nvPr/>
        </p:nvSpPr>
        <p:spPr>
          <a:xfrm>
            <a:off x="4782312" y="3118104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1100" lang="en-US"/>
          </a:p>
        </p:txBody>
      </p:sp>
      <p:sp>
        <p:nvSpPr>
          <p:cNvPr id="1048686" name="Text 30"/>
          <p:cNvSpPr/>
          <p:nvPr/>
        </p:nvSpPr>
        <p:spPr>
          <a:xfrm>
            <a:off x="5221224" y="2889504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treatment recommendations including preventive measures, pesticides, or organic remedies.</a:t>
            </a:r>
            <a:endParaRPr dirty="0" sz="1050" lang="en-US"/>
          </a:p>
        </p:txBody>
      </p:sp>
      <p:sp>
        <p:nvSpPr>
          <p:cNvPr id="1048687" name="Shape 31"/>
          <p:cNvSpPr/>
          <p:nvPr/>
        </p:nvSpPr>
        <p:spPr>
          <a:xfrm>
            <a:off x="4709160" y="3922776"/>
            <a:ext cx="4160520" cy="914400"/>
          </a:xfrm>
          <a:prstGeom prst="rect"/>
          <a:solidFill>
            <a:srgbClr val="F0FAF5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688" name="Shape 32"/>
          <p:cNvSpPr/>
          <p:nvPr/>
        </p:nvSpPr>
        <p:spPr>
          <a:xfrm>
            <a:off x="4782312" y="4151376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89" name="Text 33"/>
          <p:cNvSpPr/>
          <p:nvPr/>
        </p:nvSpPr>
        <p:spPr>
          <a:xfrm>
            <a:off x="4782312" y="4151376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dirty="0" sz="1100" lang="en-US"/>
          </a:p>
        </p:txBody>
      </p:sp>
      <p:sp>
        <p:nvSpPr>
          <p:cNvPr id="1048690" name="Text 34"/>
          <p:cNvSpPr/>
          <p:nvPr/>
        </p:nvSpPr>
        <p:spPr>
          <a:xfrm>
            <a:off x="5221224" y="3922776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Cloud/web deployment accessible on phones and desktops, even in remote agricultural areas.</a:t>
            </a:r>
            <a:endParaRPr dirty="0" sz="1050" lang="en-US"/>
          </a:p>
        </p:txBody>
      </p:sp>
      <p:sp>
        <p:nvSpPr>
          <p:cNvPr id="1048691" name="Shape 35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696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97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 – Limitations</a:t>
            </a:r>
            <a:endParaRPr dirty="0" sz="2200" lang="en-US"/>
          </a:p>
        </p:txBody>
      </p:sp>
      <p:sp>
        <p:nvSpPr>
          <p:cNvPr id="1048698" name="Shape 3"/>
          <p:cNvSpPr/>
          <p:nvPr/>
        </p:nvSpPr>
        <p:spPr>
          <a:xfrm>
            <a:off x="320040" y="804672"/>
            <a:ext cx="850392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99" name="Text 4"/>
          <p:cNvSpPr/>
          <p:nvPr/>
        </p:nvSpPr>
        <p:spPr>
          <a:xfrm>
            <a:off x="320040" y="804672"/>
            <a:ext cx="8503920" cy="365760"/>
          </a:xfrm>
          <a:prstGeom prst="rect"/>
          <a:noFill/>
        </p:spPr>
        <p:txBody>
          <a:bodyPr anchor="ctr" bIns="101600" lIns="101600" rIns="101600" rtlCol="0" tIns="10160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plant disease detection systems suffer from several key drawbacks:</a:t>
            </a:r>
            <a:endParaRPr dirty="0" sz="1200" lang="en-US"/>
          </a:p>
        </p:txBody>
      </p:sp>
      <p:sp>
        <p:nvSpPr>
          <p:cNvPr id="1048700" name="Shape 5"/>
          <p:cNvSpPr/>
          <p:nvPr/>
        </p:nvSpPr>
        <p:spPr>
          <a:xfrm>
            <a:off x="320040" y="1298448"/>
            <a:ext cx="2834640" cy="1645920"/>
          </a:xfrm>
          <a:prstGeom prst="rect"/>
          <a:solidFill>
            <a:srgbClr val="F4FBF7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01" name="Shape 6"/>
          <p:cNvSpPr/>
          <p:nvPr/>
        </p:nvSpPr>
        <p:spPr>
          <a:xfrm>
            <a:off x="320040" y="1298448"/>
            <a:ext cx="2834640" cy="310896"/>
          </a:xfrm>
          <a:prstGeom prst="rect"/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02" name="Text 7"/>
          <p:cNvSpPr/>
          <p:nvPr/>
        </p:nvSpPr>
        <p:spPr>
          <a:xfrm>
            <a:off x="320040" y="1298448"/>
            <a:ext cx="2834640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Disease Coverage</a:t>
            </a:r>
            <a:endParaRPr dirty="0" sz="1100" lang="en-US"/>
          </a:p>
        </p:txBody>
      </p:sp>
      <p:sp>
        <p:nvSpPr>
          <p:cNvPr id="1048703" name="Text 8"/>
          <p:cNvSpPr/>
          <p:nvPr/>
        </p:nvSpPr>
        <p:spPr>
          <a:xfrm>
            <a:off x="411480" y="1627632"/>
            <a:ext cx="2651760" cy="12618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predicts a small number of common leaf diseases; ignores crop-specific or uncommon conditions.</a:t>
            </a:r>
            <a:endParaRPr dirty="0" sz="1050" lang="en-US"/>
          </a:p>
        </p:txBody>
      </p:sp>
      <p:sp>
        <p:nvSpPr>
          <p:cNvPr id="1048704" name="Shape 9"/>
          <p:cNvSpPr/>
          <p:nvPr/>
        </p:nvSpPr>
        <p:spPr>
          <a:xfrm>
            <a:off x="3246120" y="1298448"/>
            <a:ext cx="2834640" cy="1645920"/>
          </a:xfrm>
          <a:prstGeom prst="rect"/>
          <a:solidFill>
            <a:srgbClr val="F4FBF7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05" name="Shape 10"/>
          <p:cNvSpPr/>
          <p:nvPr/>
        </p:nvSpPr>
        <p:spPr>
          <a:xfrm>
            <a:off x="3246120" y="1298448"/>
            <a:ext cx="2834640" cy="310896"/>
          </a:xfrm>
          <a:prstGeom prst="rect"/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06" name="Text 11"/>
          <p:cNvSpPr/>
          <p:nvPr/>
        </p:nvSpPr>
        <p:spPr>
          <a:xfrm>
            <a:off x="3246120" y="1298448"/>
            <a:ext cx="2834640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Static Data</a:t>
            </a:r>
            <a:endParaRPr dirty="0" sz="1100" lang="en-US"/>
          </a:p>
        </p:txBody>
      </p:sp>
      <p:sp>
        <p:nvSpPr>
          <p:cNvPr id="1048707" name="Text 12"/>
          <p:cNvSpPr/>
          <p:nvPr/>
        </p:nvSpPr>
        <p:spPr>
          <a:xfrm>
            <a:off x="3337560" y="1627632"/>
            <a:ext cx="2651760" cy="12618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manually uploaded images; no real-time data from IoT devices or sensors.</a:t>
            </a:r>
            <a:endParaRPr dirty="0" sz="1050" lang="en-US"/>
          </a:p>
        </p:txBody>
      </p:sp>
      <p:sp>
        <p:nvSpPr>
          <p:cNvPr id="1048708" name="Shape 13"/>
          <p:cNvSpPr/>
          <p:nvPr/>
        </p:nvSpPr>
        <p:spPr>
          <a:xfrm>
            <a:off x="6172200" y="1298448"/>
            <a:ext cx="2834640" cy="1645920"/>
          </a:xfrm>
          <a:prstGeom prst="rect"/>
          <a:solidFill>
            <a:srgbClr val="F4FBF7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09" name="Shape 14"/>
          <p:cNvSpPr/>
          <p:nvPr/>
        </p:nvSpPr>
        <p:spPr>
          <a:xfrm>
            <a:off x="6172200" y="1298448"/>
            <a:ext cx="2834640" cy="310896"/>
          </a:xfrm>
          <a:prstGeom prst="rect"/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10" name="Text 15"/>
          <p:cNvSpPr/>
          <p:nvPr/>
        </p:nvSpPr>
        <p:spPr>
          <a:xfrm>
            <a:off x="6172200" y="1298448"/>
            <a:ext cx="2834640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</a:t>
            </a:r>
            <a:endParaRPr dirty="0" sz="1100" lang="en-US"/>
          </a:p>
        </p:txBody>
      </p:sp>
      <p:sp>
        <p:nvSpPr>
          <p:cNvPr id="1048711" name="Text 16"/>
          <p:cNvSpPr/>
          <p:nvPr/>
        </p:nvSpPr>
        <p:spPr>
          <a:xfrm>
            <a:off x="6263640" y="1627632"/>
            <a:ext cx="2651760" cy="12618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diversity in training datasets limits prediction accuracy across varied conditions.</a:t>
            </a:r>
            <a:endParaRPr dirty="0" sz="1050" lang="en-US"/>
          </a:p>
        </p:txBody>
      </p:sp>
      <p:sp>
        <p:nvSpPr>
          <p:cNvPr id="1048712" name="Shape 17"/>
          <p:cNvSpPr/>
          <p:nvPr/>
        </p:nvSpPr>
        <p:spPr>
          <a:xfrm>
            <a:off x="320040" y="3081528"/>
            <a:ext cx="2834640" cy="1645920"/>
          </a:xfrm>
          <a:prstGeom prst="rect"/>
          <a:solidFill>
            <a:srgbClr val="F4FBF7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13" name="Shape 18"/>
          <p:cNvSpPr/>
          <p:nvPr/>
        </p:nvSpPr>
        <p:spPr>
          <a:xfrm>
            <a:off x="320040" y="3081528"/>
            <a:ext cx="2834640" cy="310896"/>
          </a:xfrm>
          <a:prstGeom prst="rect"/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14" name="Text 19"/>
          <p:cNvSpPr/>
          <p:nvPr/>
        </p:nvSpPr>
        <p:spPr>
          <a:xfrm>
            <a:off x="320040" y="3081528"/>
            <a:ext cx="2834640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Interpretability</a:t>
            </a:r>
            <a:endParaRPr dirty="0" sz="1100" lang="en-US"/>
          </a:p>
        </p:txBody>
      </p:sp>
      <p:sp>
        <p:nvSpPr>
          <p:cNvPr id="1048715" name="Text 20"/>
          <p:cNvSpPr/>
          <p:nvPr/>
        </p:nvSpPr>
        <p:spPr>
          <a:xfrm>
            <a:off x="411480" y="3410712"/>
            <a:ext cx="2651760" cy="12618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without expertise struggle to trust complex CNN/ML model outputs.</a:t>
            </a:r>
            <a:endParaRPr dirty="0" sz="1050" lang="en-US"/>
          </a:p>
        </p:txBody>
      </p:sp>
      <p:sp>
        <p:nvSpPr>
          <p:cNvPr id="1048716" name="Shape 21"/>
          <p:cNvSpPr/>
          <p:nvPr/>
        </p:nvSpPr>
        <p:spPr>
          <a:xfrm>
            <a:off x="3246120" y="3081528"/>
            <a:ext cx="2834640" cy="1645920"/>
          </a:xfrm>
          <a:prstGeom prst="rect"/>
          <a:solidFill>
            <a:srgbClr val="F4FBF7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17" name="Shape 22"/>
          <p:cNvSpPr/>
          <p:nvPr/>
        </p:nvSpPr>
        <p:spPr>
          <a:xfrm>
            <a:off x="3246120" y="3081528"/>
            <a:ext cx="2834640" cy="310896"/>
          </a:xfrm>
          <a:prstGeom prst="rect"/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18" name="Text 23"/>
          <p:cNvSpPr/>
          <p:nvPr/>
        </p:nvSpPr>
        <p:spPr>
          <a:xfrm>
            <a:off x="3246120" y="3081528"/>
            <a:ext cx="2834640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Validation</a:t>
            </a:r>
            <a:endParaRPr dirty="0" sz="1100" lang="en-US"/>
          </a:p>
        </p:txBody>
      </p:sp>
      <p:sp>
        <p:nvSpPr>
          <p:cNvPr id="1048719" name="Text 24"/>
          <p:cNvSpPr/>
          <p:nvPr/>
        </p:nvSpPr>
        <p:spPr>
          <a:xfrm>
            <a:off x="3337560" y="3410712"/>
            <a:ext cx="2651760" cy="12618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are seldom formally tested in real agricultural environments.</a:t>
            </a:r>
            <a:endParaRPr dirty="0" sz="1050" lang="en-US"/>
          </a:p>
        </p:txBody>
      </p:sp>
      <p:sp>
        <p:nvSpPr>
          <p:cNvPr id="1048720" name="Shape 25"/>
          <p:cNvSpPr/>
          <p:nvPr/>
        </p:nvSpPr>
        <p:spPr>
          <a:xfrm>
            <a:off x="6172200" y="3081528"/>
            <a:ext cx="2834640" cy="1645920"/>
          </a:xfrm>
          <a:prstGeom prst="rect"/>
          <a:solidFill>
            <a:srgbClr val="F4FBF7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21" name="Shape 26"/>
          <p:cNvSpPr/>
          <p:nvPr/>
        </p:nvSpPr>
        <p:spPr>
          <a:xfrm>
            <a:off x="6172200" y="3081528"/>
            <a:ext cx="2834640" cy="310896"/>
          </a:xfrm>
          <a:prstGeom prst="rect"/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22" name="Text 27"/>
          <p:cNvSpPr/>
          <p:nvPr/>
        </p:nvSpPr>
        <p:spPr>
          <a:xfrm>
            <a:off x="6172200" y="3081528"/>
            <a:ext cx="2834640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Farmer-Friendly</a:t>
            </a:r>
            <a:endParaRPr dirty="0" sz="1100" lang="en-US"/>
          </a:p>
        </p:txBody>
      </p:sp>
      <p:sp>
        <p:nvSpPr>
          <p:cNvPr id="1048723" name="Text 28"/>
          <p:cNvSpPr/>
          <p:nvPr/>
        </p:nvSpPr>
        <p:spPr>
          <a:xfrm>
            <a:off x="6263640" y="3410712"/>
            <a:ext cx="2651760" cy="12618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are built for technical users; non-technical farmers find them difficult to use.</a:t>
            </a:r>
            <a:endParaRPr dirty="0" sz="1050" lang="en-US"/>
          </a:p>
        </p:txBody>
      </p:sp>
      <p:sp>
        <p:nvSpPr>
          <p:cNvPr id="1048724" name="Shape 29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729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730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 – Key Advantages</a:t>
            </a:r>
            <a:endParaRPr dirty="0" sz="2200" lang="en-US"/>
          </a:p>
        </p:txBody>
      </p:sp>
      <p:sp>
        <p:nvSpPr>
          <p:cNvPr id="1048731" name="Shape 3"/>
          <p:cNvSpPr/>
          <p:nvPr/>
        </p:nvSpPr>
        <p:spPr>
          <a:xfrm>
            <a:off x="274320" y="841248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732" name="Shape 4"/>
          <p:cNvSpPr/>
          <p:nvPr/>
        </p:nvSpPr>
        <p:spPr>
          <a:xfrm>
            <a:off x="274320" y="841248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33" name="Text 5"/>
          <p:cNvSpPr/>
          <p:nvPr/>
        </p:nvSpPr>
        <p:spPr>
          <a:xfrm>
            <a:off x="274320" y="841248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Detection</a:t>
            </a:r>
            <a:endParaRPr dirty="0" sz="950" lang="en-US"/>
          </a:p>
        </p:txBody>
      </p:sp>
      <p:sp>
        <p:nvSpPr>
          <p:cNvPr id="1048734" name="Text 6"/>
          <p:cNvSpPr/>
          <p:nvPr/>
        </p:nvSpPr>
        <p:spPr>
          <a:xfrm>
            <a:off x="365760" y="1170432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several common leaf diseases on a single unified platform, unlike single-crop existing tools.</a:t>
            </a:r>
            <a:endParaRPr dirty="0" sz="1000" lang="en-US"/>
          </a:p>
        </p:txBody>
      </p:sp>
      <p:sp>
        <p:nvSpPr>
          <p:cNvPr id="1048735" name="Shape 7"/>
          <p:cNvSpPr/>
          <p:nvPr/>
        </p:nvSpPr>
        <p:spPr>
          <a:xfrm>
            <a:off x="2450592" y="841248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736" name="Shape 8"/>
          <p:cNvSpPr/>
          <p:nvPr/>
        </p:nvSpPr>
        <p:spPr>
          <a:xfrm>
            <a:off x="2450592" y="841248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37" name="Text 9"/>
          <p:cNvSpPr/>
          <p:nvPr/>
        </p:nvSpPr>
        <p:spPr>
          <a:xfrm>
            <a:off x="2450592" y="841248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</a:t>
            </a:r>
            <a:endParaRPr dirty="0" sz="950" lang="en-US"/>
          </a:p>
        </p:txBody>
      </p:sp>
      <p:sp>
        <p:nvSpPr>
          <p:cNvPr id="1048738" name="Text 10"/>
          <p:cNvSpPr/>
          <p:nvPr/>
        </p:nvSpPr>
        <p:spPr>
          <a:xfrm>
            <a:off x="2542032" y="1170432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interactive web app suitable for both technical users and farmers with minimal digital experience.</a:t>
            </a:r>
            <a:endParaRPr dirty="0" sz="1000" lang="en-US"/>
          </a:p>
        </p:txBody>
      </p:sp>
      <p:sp>
        <p:nvSpPr>
          <p:cNvPr id="1048739" name="Shape 11"/>
          <p:cNvSpPr/>
          <p:nvPr/>
        </p:nvSpPr>
        <p:spPr>
          <a:xfrm>
            <a:off x="4626864" y="841248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740" name="Shape 12"/>
          <p:cNvSpPr/>
          <p:nvPr/>
        </p:nvSpPr>
        <p:spPr>
          <a:xfrm>
            <a:off x="4626864" y="841248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41" name="Text 13"/>
          <p:cNvSpPr/>
          <p:nvPr/>
        </p:nvSpPr>
        <p:spPr>
          <a:xfrm>
            <a:off x="4626864" y="841248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Predictions</a:t>
            </a:r>
            <a:endParaRPr dirty="0" sz="950" lang="en-US"/>
          </a:p>
        </p:txBody>
      </p:sp>
      <p:sp>
        <p:nvSpPr>
          <p:cNvPr id="1048742" name="Text 14"/>
          <p:cNvSpPr/>
          <p:nvPr/>
        </p:nvSpPr>
        <p:spPr>
          <a:xfrm>
            <a:off x="4718304" y="1170432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 as soon as a leaf image is uploaded; CNN models trained on reliable datasets.</a:t>
            </a:r>
            <a:endParaRPr dirty="0" sz="1000" lang="en-US"/>
          </a:p>
        </p:txBody>
      </p:sp>
      <p:sp>
        <p:nvSpPr>
          <p:cNvPr id="1048743" name="Shape 15"/>
          <p:cNvSpPr/>
          <p:nvPr/>
        </p:nvSpPr>
        <p:spPr>
          <a:xfrm>
            <a:off x="6803136" y="841248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744" name="Shape 16"/>
          <p:cNvSpPr/>
          <p:nvPr/>
        </p:nvSpPr>
        <p:spPr>
          <a:xfrm>
            <a:off x="6803136" y="841248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45" name="Text 17"/>
          <p:cNvSpPr/>
          <p:nvPr/>
        </p:nvSpPr>
        <p:spPr>
          <a:xfrm>
            <a:off x="6803136" y="841248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dirty="0" sz="950" lang="en-US"/>
          </a:p>
        </p:txBody>
      </p:sp>
      <p:sp>
        <p:nvSpPr>
          <p:cNvPr id="1048746" name="Text 18"/>
          <p:cNvSpPr/>
          <p:nvPr/>
        </p:nvSpPr>
        <p:spPr>
          <a:xfrm>
            <a:off x="6894576" y="1170432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need for expensive expert consultations; acts as an affordable first-line screening tool.</a:t>
            </a:r>
            <a:endParaRPr dirty="0" sz="1000" lang="en-US"/>
          </a:p>
        </p:txBody>
      </p:sp>
      <p:sp>
        <p:nvSpPr>
          <p:cNvPr id="1048747" name="Shape 19"/>
          <p:cNvSpPr/>
          <p:nvPr/>
        </p:nvSpPr>
        <p:spPr>
          <a:xfrm>
            <a:off x="274320" y="2926080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748" name="Shape 20"/>
          <p:cNvSpPr/>
          <p:nvPr/>
        </p:nvSpPr>
        <p:spPr>
          <a:xfrm>
            <a:off x="274320" y="2926080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49" name="Text 21"/>
          <p:cNvSpPr/>
          <p:nvPr/>
        </p:nvSpPr>
        <p:spPr>
          <a:xfrm>
            <a:off x="274320" y="2926080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dirty="0" sz="950" lang="en-US"/>
          </a:p>
        </p:txBody>
      </p:sp>
      <p:sp>
        <p:nvSpPr>
          <p:cNvPr id="1048750" name="Text 22"/>
          <p:cNvSpPr/>
          <p:nvPr/>
        </p:nvSpPr>
        <p:spPr>
          <a:xfrm>
            <a:off x="365760" y="3255264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integrates additional plant diseases, crop categories, and IoT sensor data in future.</a:t>
            </a:r>
            <a:endParaRPr dirty="0" sz="1000" lang="en-US"/>
          </a:p>
        </p:txBody>
      </p:sp>
      <p:sp>
        <p:nvSpPr>
          <p:cNvPr id="1048751" name="Shape 23"/>
          <p:cNvSpPr/>
          <p:nvPr/>
        </p:nvSpPr>
        <p:spPr>
          <a:xfrm>
            <a:off x="2450592" y="2926080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752" name="Shape 24"/>
          <p:cNvSpPr/>
          <p:nvPr/>
        </p:nvSpPr>
        <p:spPr>
          <a:xfrm>
            <a:off x="2450592" y="2926080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53" name="Text 25"/>
          <p:cNvSpPr/>
          <p:nvPr/>
        </p:nvSpPr>
        <p:spPr>
          <a:xfrm>
            <a:off x="2450592" y="2926080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Ready</a:t>
            </a:r>
            <a:endParaRPr dirty="0" sz="950" lang="en-US"/>
          </a:p>
        </p:txBody>
      </p:sp>
      <p:sp>
        <p:nvSpPr>
          <p:cNvPr id="1048754" name="Text 26"/>
          <p:cNvSpPr/>
          <p:nvPr/>
        </p:nvSpPr>
        <p:spPr>
          <a:xfrm>
            <a:off x="2542032" y="3255264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on cloud platforms like AWS for high availability, scalability, and global access.</a:t>
            </a:r>
            <a:endParaRPr dirty="0" sz="1000" lang="en-US"/>
          </a:p>
        </p:txBody>
      </p:sp>
      <p:sp>
        <p:nvSpPr>
          <p:cNvPr id="1048755" name="Shape 27"/>
          <p:cNvSpPr/>
          <p:nvPr/>
        </p:nvSpPr>
        <p:spPr>
          <a:xfrm>
            <a:off x="4626864" y="2926080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756" name="Shape 28"/>
          <p:cNvSpPr/>
          <p:nvPr/>
        </p:nvSpPr>
        <p:spPr>
          <a:xfrm>
            <a:off x="4626864" y="2926080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57" name="Text 29"/>
          <p:cNvSpPr/>
          <p:nvPr/>
        </p:nvSpPr>
        <p:spPr>
          <a:xfrm>
            <a:off x="4626864" y="2926080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Required</a:t>
            </a:r>
            <a:endParaRPr dirty="0" sz="950" lang="en-US"/>
          </a:p>
        </p:txBody>
      </p:sp>
      <p:sp>
        <p:nvSpPr>
          <p:cNvPr id="1048758" name="Text 30"/>
          <p:cNvSpPr/>
          <p:nvPr/>
        </p:nvSpPr>
        <p:spPr>
          <a:xfrm>
            <a:off x="4718304" y="3255264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a web browser; zero additional software needed by the farmer.</a:t>
            </a:r>
            <a:endParaRPr dirty="0" sz="1000" lang="en-US"/>
          </a:p>
        </p:txBody>
      </p:sp>
      <p:sp>
        <p:nvSpPr>
          <p:cNvPr id="1048759" name="Shape 31"/>
          <p:cNvSpPr/>
          <p:nvPr/>
        </p:nvSpPr>
        <p:spPr>
          <a:xfrm>
            <a:off x="6803136" y="2926080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760" name="Shape 32"/>
          <p:cNvSpPr/>
          <p:nvPr/>
        </p:nvSpPr>
        <p:spPr>
          <a:xfrm>
            <a:off x="6803136" y="2926080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61" name="Text 33"/>
          <p:cNvSpPr/>
          <p:nvPr/>
        </p:nvSpPr>
        <p:spPr>
          <a:xfrm>
            <a:off x="6803136" y="2926080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Preventive Care</a:t>
            </a:r>
            <a:endParaRPr dirty="0" sz="950" lang="en-US"/>
          </a:p>
        </p:txBody>
      </p:sp>
      <p:sp>
        <p:nvSpPr>
          <p:cNvPr id="1048762" name="Text 34"/>
          <p:cNvSpPr/>
          <p:nvPr/>
        </p:nvSpPr>
        <p:spPr>
          <a:xfrm>
            <a:off x="6894576" y="3255264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early detection to minimize crop loss and reduce unnecessary pesticide use.</a:t>
            </a:r>
            <a:endParaRPr dirty="0" sz="1000" lang="en-US"/>
          </a:p>
        </p:txBody>
      </p:sp>
      <p:sp>
        <p:nvSpPr>
          <p:cNvPr id="1048763" name="Shape 35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768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769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 Used</a:t>
            </a:r>
            <a:endParaRPr dirty="0" sz="2200" lang="en-US"/>
          </a:p>
        </p:txBody>
      </p:sp>
      <p:sp>
        <p:nvSpPr>
          <p:cNvPr id="1048770" name="Shape 3"/>
          <p:cNvSpPr/>
          <p:nvPr/>
        </p:nvSpPr>
        <p:spPr>
          <a:xfrm>
            <a:off x="320040" y="822960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71" name="Shape 4"/>
          <p:cNvSpPr/>
          <p:nvPr/>
        </p:nvSpPr>
        <p:spPr>
          <a:xfrm>
            <a:off x="320040" y="822960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772" name="Text 5"/>
          <p:cNvSpPr/>
          <p:nvPr/>
        </p:nvSpPr>
        <p:spPr>
          <a:xfrm>
            <a:off x="320040" y="822960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dirty="0" sz="1300" lang="en-US"/>
          </a:p>
        </p:txBody>
      </p:sp>
      <p:sp>
        <p:nvSpPr>
          <p:cNvPr id="1048773" name="Text 6"/>
          <p:cNvSpPr/>
          <p:nvPr/>
        </p:nvSpPr>
        <p:spPr>
          <a:xfrm>
            <a:off x="411480" y="1225296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all modules—image loading, model training, data processing, and Flask backend.</a:t>
            </a:r>
            <a:endParaRPr dirty="0" sz="1000" lang="en-US"/>
          </a:p>
        </p:txBody>
      </p:sp>
      <p:sp>
        <p:nvSpPr>
          <p:cNvPr id="1048774" name="Shape 7"/>
          <p:cNvSpPr/>
          <p:nvPr/>
        </p:nvSpPr>
        <p:spPr>
          <a:xfrm>
            <a:off x="2496312" y="822960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75" name="Shape 8"/>
          <p:cNvSpPr/>
          <p:nvPr/>
        </p:nvSpPr>
        <p:spPr>
          <a:xfrm>
            <a:off x="2496312" y="822960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776" name="Text 9"/>
          <p:cNvSpPr/>
          <p:nvPr/>
        </p:nvSpPr>
        <p:spPr>
          <a:xfrm>
            <a:off x="2496312" y="822960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(Torch)</a:t>
            </a:r>
            <a:endParaRPr dirty="0" sz="1300" lang="en-US"/>
          </a:p>
        </p:txBody>
      </p:sp>
      <p:sp>
        <p:nvSpPr>
          <p:cNvPr id="1048777" name="Text 10"/>
          <p:cNvSpPr/>
          <p:nvPr/>
        </p:nvSpPr>
        <p:spPr>
          <a:xfrm>
            <a:off x="2587752" y="1225296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 for building, training, and saving the CNN architecture (.pt model files).</a:t>
            </a:r>
            <a:endParaRPr dirty="0" sz="1000" lang="en-US"/>
          </a:p>
        </p:txBody>
      </p:sp>
      <p:sp>
        <p:nvSpPr>
          <p:cNvPr id="1048778" name="Shape 11"/>
          <p:cNvSpPr/>
          <p:nvPr/>
        </p:nvSpPr>
        <p:spPr>
          <a:xfrm>
            <a:off x="4672584" y="822960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79" name="Shape 12"/>
          <p:cNvSpPr/>
          <p:nvPr/>
        </p:nvSpPr>
        <p:spPr>
          <a:xfrm>
            <a:off x="4672584" y="822960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780" name="Text 13"/>
          <p:cNvSpPr/>
          <p:nvPr/>
        </p:nvSpPr>
        <p:spPr>
          <a:xfrm>
            <a:off x="4672584" y="822960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dirty="0" sz="1300" lang="en-US"/>
          </a:p>
        </p:txBody>
      </p:sp>
      <p:sp>
        <p:nvSpPr>
          <p:cNvPr id="1048781" name="Text 14"/>
          <p:cNvSpPr/>
          <p:nvPr/>
        </p:nvSpPr>
        <p:spPr>
          <a:xfrm>
            <a:off x="4764024" y="1225296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deep learning library; used for model development and image preprocessing pipelines.</a:t>
            </a:r>
            <a:endParaRPr dirty="0" sz="1000" lang="en-US"/>
          </a:p>
        </p:txBody>
      </p:sp>
      <p:sp>
        <p:nvSpPr>
          <p:cNvPr id="1048782" name="Shape 15"/>
          <p:cNvSpPr/>
          <p:nvPr/>
        </p:nvSpPr>
        <p:spPr>
          <a:xfrm>
            <a:off x="6848856" y="822960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83" name="Shape 16"/>
          <p:cNvSpPr/>
          <p:nvPr/>
        </p:nvSpPr>
        <p:spPr>
          <a:xfrm>
            <a:off x="6848856" y="822960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784" name="Text 17"/>
          <p:cNvSpPr/>
          <p:nvPr/>
        </p:nvSpPr>
        <p:spPr>
          <a:xfrm>
            <a:off x="6848856" y="822960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dirty="0" sz="1300" lang="en-US"/>
          </a:p>
        </p:txBody>
      </p:sp>
      <p:sp>
        <p:nvSpPr>
          <p:cNvPr id="1048785" name="Text 18"/>
          <p:cNvSpPr/>
          <p:nvPr/>
        </p:nvSpPr>
        <p:spPr>
          <a:xfrm>
            <a:off x="6940296" y="1225296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 that connects the CNN model with the browser UI and manages image upload routes.</a:t>
            </a:r>
            <a:endParaRPr dirty="0" sz="1000" lang="en-US"/>
          </a:p>
        </p:txBody>
      </p:sp>
      <p:sp>
        <p:nvSpPr>
          <p:cNvPr id="1048786" name="Shape 19"/>
          <p:cNvSpPr/>
          <p:nvPr/>
        </p:nvSpPr>
        <p:spPr>
          <a:xfrm>
            <a:off x="320040" y="2907792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87" name="Shape 20"/>
          <p:cNvSpPr/>
          <p:nvPr/>
        </p:nvSpPr>
        <p:spPr>
          <a:xfrm>
            <a:off x="320040" y="2907792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788" name="Text 21"/>
          <p:cNvSpPr/>
          <p:nvPr/>
        </p:nvSpPr>
        <p:spPr>
          <a:xfrm>
            <a:off x="320040" y="2907792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(Pillow)</a:t>
            </a:r>
            <a:endParaRPr dirty="0" sz="1300" lang="en-US"/>
          </a:p>
        </p:txBody>
      </p:sp>
      <p:sp>
        <p:nvSpPr>
          <p:cNvPr id="1048789" name="Text 22"/>
          <p:cNvSpPr/>
          <p:nvPr/>
        </p:nvSpPr>
        <p:spPr>
          <a:xfrm>
            <a:off x="411480" y="3310128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image loading, RGB conversion, resizing, and preprocessing before feeding to the CNN model.</a:t>
            </a:r>
            <a:endParaRPr dirty="0" sz="1000" lang="en-US"/>
          </a:p>
        </p:txBody>
      </p:sp>
      <p:sp>
        <p:nvSpPr>
          <p:cNvPr id="1048790" name="Shape 23"/>
          <p:cNvSpPr/>
          <p:nvPr/>
        </p:nvSpPr>
        <p:spPr>
          <a:xfrm>
            <a:off x="2496312" y="2907792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91" name="Shape 24"/>
          <p:cNvSpPr/>
          <p:nvPr/>
        </p:nvSpPr>
        <p:spPr>
          <a:xfrm>
            <a:off x="2496312" y="2907792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792" name="Text 25"/>
          <p:cNvSpPr/>
          <p:nvPr/>
        </p:nvSpPr>
        <p:spPr>
          <a:xfrm>
            <a:off x="2496312" y="2907792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dirty="0" sz="1300" lang="en-US"/>
          </a:p>
        </p:txBody>
      </p:sp>
      <p:sp>
        <p:nvSpPr>
          <p:cNvPr id="1048793" name="Text 26"/>
          <p:cNvSpPr/>
          <p:nvPr/>
        </p:nvSpPr>
        <p:spPr>
          <a:xfrm>
            <a:off x="2587752" y="3310128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model output arrays; argmax() used to identify the predicted disease class.</a:t>
            </a:r>
            <a:endParaRPr dirty="0" sz="1000" lang="en-US"/>
          </a:p>
        </p:txBody>
      </p:sp>
      <p:sp>
        <p:nvSpPr>
          <p:cNvPr id="1048794" name="Shape 27"/>
          <p:cNvSpPr/>
          <p:nvPr/>
        </p:nvSpPr>
        <p:spPr>
          <a:xfrm>
            <a:off x="4672584" y="2907792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95" name="Shape 28"/>
          <p:cNvSpPr/>
          <p:nvPr/>
        </p:nvSpPr>
        <p:spPr>
          <a:xfrm>
            <a:off x="4672584" y="2907792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796" name="Text 29"/>
          <p:cNvSpPr/>
          <p:nvPr/>
        </p:nvSpPr>
        <p:spPr>
          <a:xfrm>
            <a:off x="4672584" y="2907792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dirty="0" sz="1300" lang="en-US"/>
          </a:p>
        </p:txBody>
      </p:sp>
      <p:sp>
        <p:nvSpPr>
          <p:cNvPr id="1048797" name="Text 30"/>
          <p:cNvSpPr/>
          <p:nvPr/>
        </p:nvSpPr>
        <p:spPr>
          <a:xfrm>
            <a:off x="4764024" y="3310128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CSV datasets containing disease descriptions, prevention tips, and supplement information.</a:t>
            </a:r>
            <a:endParaRPr dirty="0" sz="1000" lang="en-US"/>
          </a:p>
        </p:txBody>
      </p:sp>
      <p:sp>
        <p:nvSpPr>
          <p:cNvPr id="1048798" name="Shape 31"/>
          <p:cNvSpPr/>
          <p:nvPr/>
        </p:nvSpPr>
        <p:spPr>
          <a:xfrm>
            <a:off x="6848856" y="2907792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99" name="Shape 32"/>
          <p:cNvSpPr/>
          <p:nvPr/>
        </p:nvSpPr>
        <p:spPr>
          <a:xfrm>
            <a:off x="6848856" y="2907792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00" name="Text 33"/>
          <p:cNvSpPr/>
          <p:nvPr/>
        </p:nvSpPr>
        <p:spPr>
          <a:xfrm>
            <a:off x="6848856" y="2907792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dirty="0" sz="1300" lang="en-US"/>
          </a:p>
        </p:txBody>
      </p:sp>
      <p:sp>
        <p:nvSpPr>
          <p:cNvPr id="1048801" name="Text 34"/>
          <p:cNvSpPr/>
          <p:nvPr/>
        </p:nvSpPr>
        <p:spPr>
          <a:xfrm>
            <a:off x="6940296" y="3310128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IDE used for writing Python, HTML/CSS code, and managing the entire project workspace.</a:t>
            </a:r>
            <a:endParaRPr dirty="0" sz="1000" lang="en-US"/>
          </a:p>
        </p:txBody>
      </p:sp>
      <p:sp>
        <p:nvSpPr>
          <p:cNvPr id="1048802" name="Shape 35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07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08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Requirements</a:t>
            </a:r>
            <a:endParaRPr dirty="0" sz="2200" lang="en-US"/>
          </a:p>
        </p:txBody>
      </p:sp>
      <p:sp>
        <p:nvSpPr>
          <p:cNvPr id="1048809" name="Shape 3"/>
          <p:cNvSpPr/>
          <p:nvPr/>
        </p:nvSpPr>
        <p:spPr>
          <a:xfrm>
            <a:off x="320040" y="822960"/>
            <a:ext cx="2834640" cy="192024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10" name="Shape 4"/>
          <p:cNvSpPr/>
          <p:nvPr/>
        </p:nvSpPr>
        <p:spPr>
          <a:xfrm>
            <a:off x="320040" y="822960"/>
            <a:ext cx="283464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11" name="Text 5"/>
          <p:cNvSpPr/>
          <p:nvPr/>
        </p:nvSpPr>
        <p:spPr>
          <a:xfrm>
            <a:off x="320040" y="8229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Image Upload</a:t>
            </a:r>
            <a:endParaRPr dirty="0" sz="1100" lang="en-US"/>
          </a:p>
        </p:txBody>
      </p:sp>
      <p:sp>
        <p:nvSpPr>
          <p:cNvPr id="1048812" name="Text 6"/>
          <p:cNvSpPr/>
          <p:nvPr/>
        </p:nvSpPr>
        <p:spPr>
          <a:xfrm>
            <a:off x="429768" y="1207008"/>
            <a:ext cx="2615184" cy="14630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upload JPG/PNG leaf images; validate format and notify on errors.</a:t>
            </a:r>
            <a:endParaRPr dirty="0" sz="1100" lang="en-US"/>
          </a:p>
        </p:txBody>
      </p:sp>
      <p:sp>
        <p:nvSpPr>
          <p:cNvPr id="1048813" name="Shape 7"/>
          <p:cNvSpPr/>
          <p:nvPr/>
        </p:nvSpPr>
        <p:spPr>
          <a:xfrm>
            <a:off x="3246120" y="822960"/>
            <a:ext cx="2834640" cy="192024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14" name="Shape 8"/>
          <p:cNvSpPr/>
          <p:nvPr/>
        </p:nvSpPr>
        <p:spPr>
          <a:xfrm>
            <a:off x="3246120" y="822960"/>
            <a:ext cx="283464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15" name="Text 9"/>
          <p:cNvSpPr/>
          <p:nvPr/>
        </p:nvSpPr>
        <p:spPr>
          <a:xfrm>
            <a:off x="3246120" y="8229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Disease Detection</a:t>
            </a:r>
            <a:endParaRPr dirty="0" sz="1100" lang="en-US"/>
          </a:p>
        </p:txBody>
      </p:sp>
      <p:sp>
        <p:nvSpPr>
          <p:cNvPr id="1048816" name="Text 10"/>
          <p:cNvSpPr/>
          <p:nvPr/>
        </p:nvSpPr>
        <p:spPr>
          <a:xfrm>
            <a:off x="3355848" y="1207008"/>
            <a:ext cx="2615184" cy="14630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identify plant diseases from uploaded images using trained CNN model—no manual selection needed.</a:t>
            </a:r>
            <a:endParaRPr dirty="0" sz="1100" lang="en-US"/>
          </a:p>
        </p:txBody>
      </p:sp>
      <p:sp>
        <p:nvSpPr>
          <p:cNvPr id="1048817" name="Shape 11"/>
          <p:cNvSpPr/>
          <p:nvPr/>
        </p:nvSpPr>
        <p:spPr>
          <a:xfrm>
            <a:off x="6172200" y="822960"/>
            <a:ext cx="2834640" cy="192024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18" name="Shape 12"/>
          <p:cNvSpPr/>
          <p:nvPr/>
        </p:nvSpPr>
        <p:spPr>
          <a:xfrm>
            <a:off x="6172200" y="822960"/>
            <a:ext cx="283464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19" name="Text 13"/>
          <p:cNvSpPr/>
          <p:nvPr/>
        </p:nvSpPr>
        <p:spPr>
          <a:xfrm>
            <a:off x="6172200" y="8229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dirty="0" sz="1100" lang="en-US"/>
          </a:p>
        </p:txBody>
      </p:sp>
      <p:sp>
        <p:nvSpPr>
          <p:cNvPr id="1048820" name="Text 14"/>
          <p:cNvSpPr/>
          <p:nvPr/>
        </p:nvSpPr>
        <p:spPr>
          <a:xfrm>
            <a:off x="6281928" y="1207008"/>
            <a:ext cx="2615184" cy="14630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uploaded image instantly and display identified disease with all related details.</a:t>
            </a:r>
            <a:endParaRPr dirty="0" sz="1100" lang="en-US"/>
          </a:p>
        </p:txBody>
      </p:sp>
      <p:sp>
        <p:nvSpPr>
          <p:cNvPr id="1048821" name="Shape 15"/>
          <p:cNvSpPr/>
          <p:nvPr/>
        </p:nvSpPr>
        <p:spPr>
          <a:xfrm>
            <a:off x="320040" y="2880360"/>
            <a:ext cx="2834640" cy="192024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22" name="Shape 16"/>
          <p:cNvSpPr/>
          <p:nvPr/>
        </p:nvSpPr>
        <p:spPr>
          <a:xfrm>
            <a:off x="320040" y="2880360"/>
            <a:ext cx="283464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23" name="Text 17"/>
          <p:cNvSpPr/>
          <p:nvPr/>
        </p:nvSpPr>
        <p:spPr>
          <a:xfrm>
            <a:off x="320040" y="28803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</a:t>
            </a:r>
            <a:endParaRPr dirty="0" sz="1100" lang="en-US"/>
          </a:p>
        </p:txBody>
      </p:sp>
      <p:sp>
        <p:nvSpPr>
          <p:cNvPr id="1048824" name="Text 18"/>
          <p:cNvSpPr/>
          <p:nvPr/>
        </p:nvSpPr>
        <p:spPr>
          <a:xfrm>
            <a:off x="429768" y="3264408"/>
            <a:ext cx="2615184" cy="14630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detected disease name, description, prevention steps, and recommended treatments clearly.</a:t>
            </a:r>
            <a:endParaRPr dirty="0" sz="1100" lang="en-US"/>
          </a:p>
        </p:txBody>
      </p:sp>
      <p:sp>
        <p:nvSpPr>
          <p:cNvPr id="1048825" name="Shape 19"/>
          <p:cNvSpPr/>
          <p:nvPr/>
        </p:nvSpPr>
        <p:spPr>
          <a:xfrm>
            <a:off x="3246120" y="2880360"/>
            <a:ext cx="2834640" cy="192024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26" name="Shape 20"/>
          <p:cNvSpPr/>
          <p:nvPr/>
        </p:nvSpPr>
        <p:spPr>
          <a:xfrm>
            <a:off x="3246120" y="2880360"/>
            <a:ext cx="283464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27" name="Text 21"/>
          <p:cNvSpPr/>
          <p:nvPr/>
        </p:nvSpPr>
        <p:spPr>
          <a:xfrm>
            <a:off x="3246120" y="28803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Disease Support</a:t>
            </a:r>
            <a:endParaRPr dirty="0" sz="1100" lang="en-US"/>
          </a:p>
        </p:txBody>
      </p:sp>
      <p:sp>
        <p:nvSpPr>
          <p:cNvPr id="1048828" name="Text 22"/>
          <p:cNvSpPr/>
          <p:nvPr/>
        </p:nvSpPr>
        <p:spPr>
          <a:xfrm>
            <a:off x="3355848" y="3264408"/>
            <a:ext cx="2615184" cy="14630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various diseases across different plant species in a single platform.</a:t>
            </a:r>
            <a:endParaRPr dirty="0" sz="1100" lang="en-US"/>
          </a:p>
        </p:txBody>
      </p:sp>
      <p:sp>
        <p:nvSpPr>
          <p:cNvPr id="1048829" name="Shape 23"/>
          <p:cNvSpPr/>
          <p:nvPr/>
        </p:nvSpPr>
        <p:spPr>
          <a:xfrm>
            <a:off x="6172200" y="2880360"/>
            <a:ext cx="2834640" cy="192024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30" name="Shape 24"/>
          <p:cNvSpPr/>
          <p:nvPr/>
        </p:nvSpPr>
        <p:spPr>
          <a:xfrm>
            <a:off x="6172200" y="2880360"/>
            <a:ext cx="283464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31" name="Text 25"/>
          <p:cNvSpPr/>
          <p:nvPr/>
        </p:nvSpPr>
        <p:spPr>
          <a:xfrm>
            <a:off x="6172200" y="28803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Recommendations</a:t>
            </a:r>
            <a:endParaRPr dirty="0" sz="1100" lang="en-US"/>
          </a:p>
        </p:txBody>
      </p:sp>
      <p:sp>
        <p:nvSpPr>
          <p:cNvPr id="1048832" name="Text 26"/>
          <p:cNvSpPr/>
          <p:nvPr/>
        </p:nvSpPr>
        <p:spPr>
          <a:xfrm>
            <a:off x="6281928" y="3264408"/>
            <a:ext cx="2615184" cy="14630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links to purchase recommended fungicides/pesticides for the detected disease.</a:t>
            </a:r>
            <a:endParaRPr dirty="0" sz="1100" lang="en-US"/>
          </a:p>
        </p:txBody>
      </p:sp>
      <p:sp>
        <p:nvSpPr>
          <p:cNvPr id="1048833" name="Shape 27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38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39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Data Flow</a:t>
            </a:r>
            <a:endParaRPr dirty="0" sz="2200" lang="en-US"/>
          </a:p>
        </p:txBody>
      </p:sp>
      <p:sp>
        <p:nvSpPr>
          <p:cNvPr id="1048840" name="Shape 3"/>
          <p:cNvSpPr/>
          <p:nvPr/>
        </p:nvSpPr>
        <p:spPr>
          <a:xfrm>
            <a:off x="228600" y="914400"/>
            <a:ext cx="1508760" cy="141732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  <a:effectLst>
            <a:outerShdw algn="bl" blurRad="63500" dir="8100000" dist="254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41" name="Text 4"/>
          <p:cNvSpPr/>
          <p:nvPr/>
        </p:nvSpPr>
        <p:spPr>
          <a:xfrm>
            <a:off x="228600" y="914400"/>
            <a:ext cx="1508760" cy="1417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dirty="0" sz="1300" lang="en-US"/>
          </a:p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dirty="0" sz="1300" lang="en-US"/>
          </a:p>
        </p:txBody>
      </p:sp>
      <p:sp>
        <p:nvSpPr>
          <p:cNvPr id="1048842" name="Shape 5"/>
          <p:cNvSpPr/>
          <p:nvPr/>
        </p:nvSpPr>
        <p:spPr>
          <a:xfrm>
            <a:off x="1737360" y="1508760"/>
            <a:ext cx="228600" cy="228600"/>
          </a:xfrm>
          <a:prstGeom prst="rect"/>
          <a:solidFill>
            <a:srgbClr val="5A7260"/>
          </a:solidFill>
          <a:ln w="12700">
            <a:solidFill>
              <a:srgbClr val="5A7260"/>
            </a:solidFill>
            <a:prstDash val="solid"/>
          </a:ln>
        </p:spPr>
      </p:sp>
      <p:sp>
        <p:nvSpPr>
          <p:cNvPr id="1048843" name="Text 6"/>
          <p:cNvSpPr/>
          <p:nvPr/>
        </p:nvSpPr>
        <p:spPr>
          <a:xfrm>
            <a:off x="182880" y="2423160"/>
            <a:ext cx="1600200" cy="10972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uploads a leaf image via the web interface</a:t>
            </a:r>
            <a:endParaRPr dirty="0" sz="1000" lang="en-US"/>
          </a:p>
        </p:txBody>
      </p:sp>
      <p:sp>
        <p:nvSpPr>
          <p:cNvPr id="1048844" name="Shape 7"/>
          <p:cNvSpPr/>
          <p:nvPr/>
        </p:nvSpPr>
        <p:spPr>
          <a:xfrm>
            <a:off x="1965960" y="914400"/>
            <a:ext cx="1508760" cy="141732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algn="bl" blurRad="63500" dir="8100000" dist="254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45" name="Text 8"/>
          <p:cNvSpPr/>
          <p:nvPr/>
        </p:nvSpPr>
        <p:spPr>
          <a:xfrm>
            <a:off x="1965960" y="914400"/>
            <a:ext cx="1508760" cy="1417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</a:t>
            </a:r>
            <a:endParaRPr dirty="0" sz="1300" lang="en-US"/>
          </a:p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dirty="0" sz="1300" lang="en-US"/>
          </a:p>
        </p:txBody>
      </p:sp>
      <p:sp>
        <p:nvSpPr>
          <p:cNvPr id="1048846" name="Shape 9"/>
          <p:cNvSpPr/>
          <p:nvPr/>
        </p:nvSpPr>
        <p:spPr>
          <a:xfrm>
            <a:off x="3474720" y="1508760"/>
            <a:ext cx="228600" cy="228600"/>
          </a:xfrm>
          <a:prstGeom prst="rect"/>
          <a:solidFill>
            <a:srgbClr val="5A7260"/>
          </a:solidFill>
          <a:ln w="12700">
            <a:solidFill>
              <a:srgbClr val="5A7260"/>
            </a:solidFill>
            <a:prstDash val="solid"/>
          </a:ln>
        </p:spPr>
      </p:sp>
      <p:sp>
        <p:nvSpPr>
          <p:cNvPr id="1048847" name="Text 10"/>
          <p:cNvSpPr/>
          <p:nvPr/>
        </p:nvSpPr>
        <p:spPr>
          <a:xfrm>
            <a:off x="1920240" y="2423160"/>
            <a:ext cx="1600200" cy="10972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 file format (JPG/PNG) and image integrity</a:t>
            </a:r>
            <a:endParaRPr dirty="0" sz="1000" lang="en-US"/>
          </a:p>
        </p:txBody>
      </p:sp>
      <p:sp>
        <p:nvSpPr>
          <p:cNvPr id="1048848" name="Shape 11"/>
          <p:cNvSpPr/>
          <p:nvPr/>
        </p:nvSpPr>
        <p:spPr>
          <a:xfrm>
            <a:off x="3703320" y="914400"/>
            <a:ext cx="1508760" cy="1417320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  <a:effectLst>
            <a:outerShdw algn="bl" blurRad="63500" dir="8100000" dist="254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49" name="Text 12"/>
          <p:cNvSpPr/>
          <p:nvPr/>
        </p:nvSpPr>
        <p:spPr>
          <a:xfrm>
            <a:off x="3703320" y="914400"/>
            <a:ext cx="1508760" cy="1417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dirty="0" sz="1300" lang="en-US"/>
          </a:p>
        </p:txBody>
      </p:sp>
      <p:sp>
        <p:nvSpPr>
          <p:cNvPr id="1048850" name="Shape 13"/>
          <p:cNvSpPr/>
          <p:nvPr/>
        </p:nvSpPr>
        <p:spPr>
          <a:xfrm>
            <a:off x="5212080" y="1508760"/>
            <a:ext cx="228600" cy="228600"/>
          </a:xfrm>
          <a:prstGeom prst="rect"/>
          <a:solidFill>
            <a:srgbClr val="5A7260"/>
          </a:solidFill>
          <a:ln w="12700">
            <a:solidFill>
              <a:srgbClr val="5A7260"/>
            </a:solidFill>
            <a:prstDash val="solid"/>
          </a:ln>
        </p:spPr>
      </p:sp>
      <p:sp>
        <p:nvSpPr>
          <p:cNvPr id="1048851" name="Text 14"/>
          <p:cNvSpPr/>
          <p:nvPr/>
        </p:nvSpPr>
        <p:spPr>
          <a:xfrm>
            <a:off x="3657600" y="2423160"/>
            <a:ext cx="1600200" cy="10972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resizes, converts to RGB, normalises pixel values</a:t>
            </a:r>
            <a:endParaRPr dirty="0" sz="1000" lang="en-US"/>
          </a:p>
        </p:txBody>
      </p:sp>
      <p:sp>
        <p:nvSpPr>
          <p:cNvPr id="1048852" name="Shape 15"/>
          <p:cNvSpPr/>
          <p:nvPr/>
        </p:nvSpPr>
        <p:spPr>
          <a:xfrm>
            <a:off x="5440680" y="914400"/>
            <a:ext cx="1508760" cy="1417320"/>
          </a:xfrm>
          <a:prstGeom prst="rect"/>
          <a:solidFill>
            <a:srgbClr val="F4A823"/>
          </a:solidFill>
          <a:ln w="12700">
            <a:solidFill>
              <a:srgbClr val="F4A823"/>
            </a:solidFill>
            <a:prstDash val="solid"/>
          </a:ln>
          <a:effectLst>
            <a:outerShdw algn="bl" blurRad="63500" dir="8100000" dist="254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53" name="Text 16"/>
          <p:cNvSpPr/>
          <p:nvPr/>
        </p:nvSpPr>
        <p:spPr>
          <a:xfrm>
            <a:off x="5440680" y="914400"/>
            <a:ext cx="1508760" cy="1417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Model</a:t>
            </a:r>
            <a:endParaRPr dirty="0" sz="1300" lang="en-US"/>
          </a:p>
        </p:txBody>
      </p:sp>
      <p:sp>
        <p:nvSpPr>
          <p:cNvPr id="1048854" name="Shape 17"/>
          <p:cNvSpPr/>
          <p:nvPr/>
        </p:nvSpPr>
        <p:spPr>
          <a:xfrm>
            <a:off x="6949440" y="1508760"/>
            <a:ext cx="228600" cy="228600"/>
          </a:xfrm>
          <a:prstGeom prst="rect"/>
          <a:solidFill>
            <a:srgbClr val="5A7260"/>
          </a:solidFill>
          <a:ln w="12700">
            <a:solidFill>
              <a:srgbClr val="5A7260"/>
            </a:solidFill>
            <a:prstDash val="solid"/>
          </a:ln>
        </p:spPr>
      </p:sp>
      <p:sp>
        <p:nvSpPr>
          <p:cNvPr id="1048855" name="Text 18"/>
          <p:cNvSpPr/>
          <p:nvPr/>
        </p:nvSpPr>
        <p:spPr>
          <a:xfrm>
            <a:off x="5394960" y="2423160"/>
            <a:ext cx="1600200" cy="10972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model extracts features and classifies disease</a:t>
            </a:r>
            <a:endParaRPr dirty="0" sz="1000" lang="en-US"/>
          </a:p>
        </p:txBody>
      </p:sp>
      <p:sp>
        <p:nvSpPr>
          <p:cNvPr id="1048856" name="Shape 19"/>
          <p:cNvSpPr/>
          <p:nvPr/>
        </p:nvSpPr>
        <p:spPr>
          <a:xfrm>
            <a:off x="7178040" y="914400"/>
            <a:ext cx="1508760" cy="141732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algn="bl" blurRad="63500" dir="8100000" dist="254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57" name="Text 20"/>
          <p:cNvSpPr/>
          <p:nvPr/>
        </p:nvSpPr>
        <p:spPr>
          <a:xfrm>
            <a:off x="7178040" y="914400"/>
            <a:ext cx="1508760" cy="1417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dirty="0" sz="1300" lang="en-US"/>
          </a:p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</a:t>
            </a:r>
            <a:endParaRPr dirty="0" sz="1300" lang="en-US"/>
          </a:p>
        </p:txBody>
      </p:sp>
      <p:sp>
        <p:nvSpPr>
          <p:cNvPr id="1048858" name="Text 21"/>
          <p:cNvSpPr/>
          <p:nvPr/>
        </p:nvSpPr>
        <p:spPr>
          <a:xfrm>
            <a:off x="7132320" y="2423160"/>
            <a:ext cx="1600200" cy="10972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name, description, severity &amp; remedies shown to user</a:t>
            </a:r>
            <a:endParaRPr dirty="0" sz="1000" lang="en-US"/>
          </a:p>
        </p:txBody>
      </p:sp>
      <p:sp>
        <p:nvSpPr>
          <p:cNvPr id="1048859" name="Shape 22"/>
          <p:cNvSpPr/>
          <p:nvPr/>
        </p:nvSpPr>
        <p:spPr>
          <a:xfrm>
            <a:off x="228600" y="3611880"/>
            <a:ext cx="8686800" cy="347472"/>
          </a:xfrm>
          <a:prstGeom prst="rect"/>
          <a:solidFill>
            <a:srgbClr val="E8F5EE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60" name="Text 23"/>
          <p:cNvSpPr/>
          <p:nvPr/>
        </p:nvSpPr>
        <p:spPr>
          <a:xfrm>
            <a:off x="228600" y="3611880"/>
            <a:ext cx="868680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 features extracted by CNN:  Leaf texture  |  Color variations  |  Lesion patterns  |  Shape anomalies</a:t>
            </a:r>
            <a:endParaRPr dirty="0" sz="1200" lang="en-US"/>
          </a:p>
        </p:txBody>
      </p:sp>
      <p:sp>
        <p:nvSpPr>
          <p:cNvPr id="1048861" name="Shape 24"/>
          <p:cNvSpPr/>
          <p:nvPr/>
        </p:nvSpPr>
        <p:spPr>
          <a:xfrm>
            <a:off x="320040" y="4069080"/>
            <a:ext cx="2011680" cy="640080"/>
          </a:xfrm>
          <a:prstGeom prst="rect"/>
          <a:solidFill>
            <a:srgbClr val="1A3C2E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62" name="Text 25"/>
          <p:cNvSpPr/>
          <p:nvPr/>
        </p:nvSpPr>
        <p:spPr>
          <a:xfrm>
            <a:off x="320040" y="4069080"/>
            <a:ext cx="20116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&amp; Growers</a:t>
            </a:r>
            <a:endParaRPr dirty="0" sz="1100" lang="en-US"/>
          </a:p>
        </p:txBody>
      </p:sp>
      <p:sp>
        <p:nvSpPr>
          <p:cNvPr id="1048863" name="Shape 26"/>
          <p:cNvSpPr/>
          <p:nvPr/>
        </p:nvSpPr>
        <p:spPr>
          <a:xfrm>
            <a:off x="2468880" y="4069080"/>
            <a:ext cx="2011680" cy="640080"/>
          </a:xfrm>
          <a:prstGeom prst="rect"/>
          <a:solidFill>
            <a:srgbClr val="2E7D52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64" name="Text 27"/>
          <p:cNvSpPr/>
          <p:nvPr/>
        </p:nvSpPr>
        <p:spPr>
          <a:xfrm>
            <a:off x="2468880" y="4069080"/>
            <a:ext cx="20116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Officers</a:t>
            </a:r>
            <a:endParaRPr dirty="0" sz="1100" lang="en-US"/>
          </a:p>
        </p:txBody>
      </p:sp>
      <p:sp>
        <p:nvSpPr>
          <p:cNvPr id="1048865" name="Shape 28"/>
          <p:cNvSpPr/>
          <p:nvPr/>
        </p:nvSpPr>
        <p:spPr>
          <a:xfrm>
            <a:off x="4617720" y="4069080"/>
            <a:ext cx="2011680" cy="640080"/>
          </a:xfrm>
          <a:prstGeom prst="rect"/>
          <a:solidFill>
            <a:srgbClr val="1A3C2E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66" name="Text 29"/>
          <p:cNvSpPr/>
          <p:nvPr/>
        </p:nvSpPr>
        <p:spPr>
          <a:xfrm>
            <a:off x="4617720" y="4069080"/>
            <a:ext cx="20116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/ Scientists</a:t>
            </a:r>
            <a:endParaRPr dirty="0" sz="1100" lang="en-US"/>
          </a:p>
        </p:txBody>
      </p:sp>
      <p:sp>
        <p:nvSpPr>
          <p:cNvPr id="1048867" name="Shape 30"/>
          <p:cNvSpPr/>
          <p:nvPr/>
        </p:nvSpPr>
        <p:spPr>
          <a:xfrm>
            <a:off x="6766560" y="4069080"/>
            <a:ext cx="2011680" cy="640080"/>
          </a:xfrm>
          <a:prstGeom prst="rect"/>
          <a:solidFill>
            <a:srgbClr val="2E7D52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68" name="Text 31"/>
          <p:cNvSpPr/>
          <p:nvPr/>
        </p:nvSpPr>
        <p:spPr>
          <a:xfrm>
            <a:off x="6766560" y="4069080"/>
            <a:ext cx="20116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Workers</a:t>
            </a:r>
            <a:endParaRPr dirty="0" sz="1100" lang="en-US"/>
          </a:p>
        </p:txBody>
      </p:sp>
      <p:sp>
        <p:nvSpPr>
          <p:cNvPr id="1048869" name="Text 32"/>
          <p:cNvSpPr/>
          <p:nvPr/>
        </p:nvSpPr>
        <p:spPr>
          <a:xfrm>
            <a:off x="8321040" y="4069080"/>
            <a:ext cx="7315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lang="en-US">
                <a:solidFill>
                  <a:srgbClr val="5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dirty="0" sz="900" lang="en-US"/>
          </a:p>
        </p:txBody>
      </p:sp>
      <p:sp>
        <p:nvSpPr>
          <p:cNvPr id="1048870" name="Shape 33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4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75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76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dirty="0" sz="2200" lang="en-US"/>
          </a:p>
        </p:txBody>
      </p:sp>
      <p:sp>
        <p:nvSpPr>
          <p:cNvPr id="1048877" name="Text 3"/>
          <p:cNvSpPr/>
          <p:nvPr/>
        </p:nvSpPr>
        <p:spPr>
          <a:xfrm>
            <a:off x="365760" y="804672"/>
            <a:ext cx="841248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i="1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CNN-powered leaf disease detection system represents a significant step forward in agricultural analytics, delivering accurate, real-time disease identification through an accessible, farmer-friendly web platform.</a:t>
            </a:r>
            <a:endParaRPr dirty="0" sz="1300" lang="en-US"/>
          </a:p>
        </p:txBody>
      </p:sp>
      <p:sp>
        <p:nvSpPr>
          <p:cNvPr id="1048878" name="Shape 4"/>
          <p:cNvSpPr/>
          <p:nvPr/>
        </p:nvSpPr>
        <p:spPr>
          <a:xfrm>
            <a:off x="320040" y="1691640"/>
            <a:ext cx="2834640" cy="146304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79" name="Shape 5"/>
          <p:cNvSpPr/>
          <p:nvPr/>
        </p:nvSpPr>
        <p:spPr>
          <a:xfrm>
            <a:off x="320040" y="1691640"/>
            <a:ext cx="283464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80" name="Text 6"/>
          <p:cNvSpPr/>
          <p:nvPr/>
        </p:nvSpPr>
        <p:spPr>
          <a:xfrm>
            <a:off x="320040" y="1691640"/>
            <a:ext cx="283464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&amp; Robustness</a:t>
            </a:r>
            <a:endParaRPr dirty="0" sz="1050" lang="en-US"/>
          </a:p>
        </p:txBody>
      </p:sp>
      <p:sp>
        <p:nvSpPr>
          <p:cNvPr id="1048881" name="Text 7"/>
          <p:cNvSpPr/>
          <p:nvPr/>
        </p:nvSpPr>
        <p:spPr>
          <a:xfrm>
            <a:off x="411480" y="2039112"/>
            <a:ext cx="2651760" cy="106070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impressive precision across diverse plant images and testing scenarios.</a:t>
            </a:r>
            <a:endParaRPr dirty="0" sz="1100" lang="en-US"/>
          </a:p>
        </p:txBody>
      </p:sp>
      <p:sp>
        <p:nvSpPr>
          <p:cNvPr id="1048882" name="Shape 8"/>
          <p:cNvSpPr/>
          <p:nvPr/>
        </p:nvSpPr>
        <p:spPr>
          <a:xfrm>
            <a:off x="3264408" y="1691640"/>
            <a:ext cx="2834640" cy="146304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83" name="Shape 9"/>
          <p:cNvSpPr/>
          <p:nvPr/>
        </p:nvSpPr>
        <p:spPr>
          <a:xfrm>
            <a:off x="3264408" y="1691640"/>
            <a:ext cx="283464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84" name="Text 10"/>
          <p:cNvSpPr/>
          <p:nvPr/>
        </p:nvSpPr>
        <p:spPr>
          <a:xfrm>
            <a:off x="3264408" y="1691640"/>
            <a:ext cx="283464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All</a:t>
            </a:r>
            <a:endParaRPr dirty="0" sz="1050" lang="en-US"/>
          </a:p>
        </p:txBody>
      </p:sp>
      <p:sp>
        <p:nvSpPr>
          <p:cNvPr id="1048885" name="Text 11"/>
          <p:cNvSpPr/>
          <p:nvPr/>
        </p:nvSpPr>
        <p:spPr>
          <a:xfrm>
            <a:off x="3355848" y="2039112"/>
            <a:ext cx="2651760" cy="106070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farmers, experts, and everyday users regardless of digital literacy.</a:t>
            </a:r>
            <a:endParaRPr dirty="0" sz="1100" lang="en-US"/>
          </a:p>
        </p:txBody>
      </p:sp>
      <p:sp>
        <p:nvSpPr>
          <p:cNvPr id="1048886" name="Shape 12"/>
          <p:cNvSpPr/>
          <p:nvPr/>
        </p:nvSpPr>
        <p:spPr>
          <a:xfrm>
            <a:off x="6208776" y="1691640"/>
            <a:ext cx="2834640" cy="146304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87" name="Shape 13"/>
          <p:cNvSpPr/>
          <p:nvPr/>
        </p:nvSpPr>
        <p:spPr>
          <a:xfrm>
            <a:off x="6208776" y="1691640"/>
            <a:ext cx="283464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88" name="Text 14"/>
          <p:cNvSpPr/>
          <p:nvPr/>
        </p:nvSpPr>
        <p:spPr>
          <a:xfrm>
            <a:off x="6208776" y="1691640"/>
            <a:ext cx="283464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Early Detection</a:t>
            </a:r>
            <a:endParaRPr dirty="0" sz="1050" lang="en-US"/>
          </a:p>
        </p:txBody>
      </p:sp>
      <p:sp>
        <p:nvSpPr>
          <p:cNvPr id="1048889" name="Text 15"/>
          <p:cNvSpPr/>
          <p:nvPr/>
        </p:nvSpPr>
        <p:spPr>
          <a:xfrm>
            <a:off x="6300216" y="2039112"/>
            <a:ext cx="2651760" cy="106070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timely corrective action, reducing crop loss and minimizing pesticide misuse.</a:t>
            </a:r>
            <a:endParaRPr dirty="0" sz="1100" lang="en-US"/>
          </a:p>
        </p:txBody>
      </p:sp>
      <p:sp>
        <p:nvSpPr>
          <p:cNvPr id="1048890" name="Shape 16"/>
          <p:cNvSpPr/>
          <p:nvPr/>
        </p:nvSpPr>
        <p:spPr>
          <a:xfrm>
            <a:off x="320040" y="3246120"/>
            <a:ext cx="2834640" cy="146304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91" name="Shape 17"/>
          <p:cNvSpPr/>
          <p:nvPr/>
        </p:nvSpPr>
        <p:spPr>
          <a:xfrm>
            <a:off x="320040" y="3246120"/>
            <a:ext cx="283464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92" name="Text 18"/>
          <p:cNvSpPr/>
          <p:nvPr/>
        </p:nvSpPr>
        <p:spPr>
          <a:xfrm>
            <a:off x="320040" y="3246120"/>
            <a:ext cx="283464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Farming &amp; Technology</a:t>
            </a:r>
            <a:endParaRPr dirty="0" sz="1050" lang="en-US"/>
          </a:p>
        </p:txBody>
      </p:sp>
      <p:sp>
        <p:nvSpPr>
          <p:cNvPr id="1048893" name="Text 19"/>
          <p:cNvSpPr/>
          <p:nvPr/>
        </p:nvSpPr>
        <p:spPr>
          <a:xfrm>
            <a:off x="411480" y="3593592"/>
            <a:ext cx="2651760" cy="106070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disease identification, reducing reliance on manual inspection and expensive experts.</a:t>
            </a:r>
            <a:endParaRPr dirty="0" sz="1100" lang="en-US"/>
          </a:p>
        </p:txBody>
      </p:sp>
      <p:sp>
        <p:nvSpPr>
          <p:cNvPr id="1048894" name="Shape 20"/>
          <p:cNvSpPr/>
          <p:nvPr/>
        </p:nvSpPr>
        <p:spPr>
          <a:xfrm>
            <a:off x="3264408" y="3246120"/>
            <a:ext cx="2834640" cy="146304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95" name="Shape 21"/>
          <p:cNvSpPr/>
          <p:nvPr/>
        </p:nvSpPr>
        <p:spPr>
          <a:xfrm>
            <a:off x="3264408" y="3246120"/>
            <a:ext cx="283464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96" name="Text 22"/>
          <p:cNvSpPr/>
          <p:nvPr/>
        </p:nvSpPr>
        <p:spPr>
          <a:xfrm>
            <a:off x="3264408" y="3246120"/>
            <a:ext cx="283464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Future-Ready</a:t>
            </a:r>
            <a:endParaRPr dirty="0" sz="1050" lang="en-US"/>
          </a:p>
        </p:txBody>
      </p:sp>
      <p:sp>
        <p:nvSpPr>
          <p:cNvPr id="1048897" name="Text 23"/>
          <p:cNvSpPr/>
          <p:nvPr/>
        </p:nvSpPr>
        <p:spPr>
          <a:xfrm>
            <a:off x="3355848" y="3593592"/>
            <a:ext cx="2651760" cy="106070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allows seamless addition of new crop types and disease categories.</a:t>
            </a:r>
            <a:endParaRPr dirty="0" sz="1100" lang="en-US"/>
          </a:p>
        </p:txBody>
      </p:sp>
      <p:sp>
        <p:nvSpPr>
          <p:cNvPr id="1048898" name="Shape 24"/>
          <p:cNvSpPr/>
          <p:nvPr/>
        </p:nvSpPr>
        <p:spPr>
          <a:xfrm>
            <a:off x="6208776" y="3246120"/>
            <a:ext cx="2834640" cy="146304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99" name="Shape 25"/>
          <p:cNvSpPr/>
          <p:nvPr/>
        </p:nvSpPr>
        <p:spPr>
          <a:xfrm>
            <a:off x="6208776" y="3246120"/>
            <a:ext cx="283464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900" name="Text 26"/>
          <p:cNvSpPr/>
          <p:nvPr/>
        </p:nvSpPr>
        <p:spPr>
          <a:xfrm>
            <a:off x="6208776" y="3246120"/>
            <a:ext cx="283464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Smart Farming</a:t>
            </a:r>
            <a:endParaRPr dirty="0" sz="1050" lang="en-US"/>
          </a:p>
        </p:txBody>
      </p:sp>
      <p:sp>
        <p:nvSpPr>
          <p:cNvPr id="1048901" name="Text 27"/>
          <p:cNvSpPr/>
          <p:nvPr/>
        </p:nvSpPr>
        <p:spPr>
          <a:xfrm>
            <a:off x="6300216" y="3593592"/>
            <a:ext cx="2651760" cy="106070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Paves the way for IoT integration, mobile apps, and real-time advisory systems.</a:t>
            </a:r>
            <a:endParaRPr dirty="0" sz="1100" lang="en-US"/>
          </a:p>
        </p:txBody>
      </p:sp>
      <p:sp>
        <p:nvSpPr>
          <p:cNvPr id="1048902" name="Shape 28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3C2E"/>
        </a:solidFill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6" name="Shape 0"/>
          <p:cNvSpPr/>
          <p:nvPr/>
        </p:nvSpPr>
        <p:spPr>
          <a:xfrm>
            <a:off x="0" y="0"/>
            <a:ext cx="164592" cy="5143500"/>
          </a:xfrm>
          <a:prstGeom prst="rect"/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048907" name="Shape 1"/>
          <p:cNvSpPr/>
          <p:nvPr/>
        </p:nvSpPr>
        <p:spPr>
          <a:xfrm>
            <a:off x="164592" y="1828800"/>
            <a:ext cx="8979408" cy="1463040"/>
          </a:xfrm>
          <a:prstGeom prst="rect"/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1048908" name="Text 2"/>
          <p:cNvSpPr/>
          <p:nvPr/>
        </p:nvSpPr>
        <p:spPr>
          <a:xfrm>
            <a:off x="256032" y="914400"/>
            <a:ext cx="86868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5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dirty="0" sz="5200" lang="en-US"/>
          </a:p>
        </p:txBody>
      </p:sp>
      <p:sp>
        <p:nvSpPr>
          <p:cNvPr id="1048909" name="Text 3"/>
          <p:cNvSpPr/>
          <p:nvPr/>
        </p:nvSpPr>
        <p:spPr>
          <a:xfrm>
            <a:off x="256032" y="1920240"/>
            <a:ext cx="8686800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600" i="1" lang="en-US">
                <a:solidFill>
                  <a:srgbClr val="5C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dirty="0" sz="2600" lang="en-US"/>
          </a:p>
        </p:txBody>
      </p:sp>
      <p:sp>
        <p:nvSpPr>
          <p:cNvPr id="1048910" name="Shape 4"/>
          <p:cNvSpPr/>
          <p:nvPr/>
        </p:nvSpPr>
        <p:spPr>
          <a:xfrm>
            <a:off x="2286000" y="2834640"/>
            <a:ext cx="4572000" cy="36576"/>
          </a:xfrm>
          <a:prstGeom prst="rect"/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048911" name="Text 5"/>
          <p:cNvSpPr/>
          <p:nvPr/>
        </p:nvSpPr>
        <p:spPr>
          <a:xfrm>
            <a:off x="256032" y="3017520"/>
            <a:ext cx="86868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300" lang="en-US">
                <a:solidFill>
                  <a:srgbClr val="7AB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CNN-Powered Plant Leaf Disease Detection  |  EAI 421  |  GKVK Bangalore</a:t>
            </a:r>
            <a:endParaRPr dirty="0" sz="1300" lang="en-US"/>
          </a:p>
        </p:txBody>
      </p:sp>
      <p:sp>
        <p:nvSpPr>
          <p:cNvPr id="1048912" name="Text 6"/>
          <p:cNvSpPr/>
          <p:nvPr/>
        </p:nvSpPr>
        <p:spPr>
          <a:xfrm>
            <a:off x="256032" y="3520440"/>
            <a:ext cx="868680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AMB2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4th Year B.Sc Agriculture</a:t>
            </a:r>
            <a:endParaRPr dirty="0" sz="12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CNN-Powered Machine Learning Model for Plant Leaf Disease Detection</dc:title>
  <dc:creator>PptxGenJS</dc:creator>
  <cp:lastModifiedBy>PptxGenJS</cp:lastModifiedBy>
  <dcterms:created xsi:type="dcterms:W3CDTF">2026-04-15T06:03:22Z</dcterms:created>
  <dcterms:modified xsi:type="dcterms:W3CDTF">2026-04-16T15:46:35Z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07957ca0a56543368fd5a6d523fa188b</vt:lpwstr>
  </property>
</Properties>
</file>